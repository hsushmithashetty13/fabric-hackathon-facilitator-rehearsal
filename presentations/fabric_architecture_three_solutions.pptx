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7A80"/>
          </a:solidFill>
          <a:ln>
            <a:solidFill>
              <a:srgbClr val="007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823960" y="0"/>
            <a:ext cx="3367735" cy="6858000"/>
          </a:xfrm>
          <a:prstGeom prst="rect">
            <a:avLst/>
          </a:prstGeom>
          <a:solidFill>
            <a:srgbClr val="1C252C"/>
          </a:solidFill>
          <a:ln>
            <a:solidFill>
              <a:srgbClr val="1C25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749808"/>
            <a:ext cx="7132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7A80"/>
                </a:solidFill>
                <a:latin typeface="Aptos"/>
              </a:rPr>
              <a:t>MICROSOFT FABRIC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234440"/>
            <a:ext cx="7498079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C252C"/>
                </a:solidFill>
                <a:latin typeface="Aptos Display"/>
              </a:rPr>
              <a:t>Three ways to build
the same data product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926080"/>
            <a:ext cx="7132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5E6970"/>
                </a:solidFill>
                <a:latin typeface="Aptos"/>
              </a:rPr>
              <a:t>Simple  |  Solution 2  |  Solution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456432"/>
            <a:ext cx="7132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C252C"/>
                </a:solidFill>
                <a:latin typeface="Aptos"/>
              </a:rPr>
              <a:t>From rapid rehearsal to governed, multi-engine medallion delivery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08592" y="1051560"/>
            <a:ext cx="2331720" cy="694944"/>
          </a:xfrm>
          <a:prstGeom prst="roundRect">
            <a:avLst>
              <a:gd name="adj" fmla="val 8000"/>
            </a:avLst>
          </a:prstGeom>
          <a:solidFill>
            <a:srgbClr val="F4BE34"/>
          </a:solidFill>
          <a:ln>
            <a:solidFill>
              <a:srgbClr val="F4BE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0" y="1261872"/>
            <a:ext cx="1920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C252C"/>
                </a:solidFill>
                <a:latin typeface="Aptos"/>
              </a:rPr>
              <a:t>1  FASTEST PATH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08592" y="2057400"/>
            <a:ext cx="2331720" cy="694944"/>
          </a:xfrm>
          <a:prstGeom prst="roundRect">
            <a:avLst>
              <a:gd name="adj" fmla="val 8000"/>
            </a:avLst>
          </a:prstGeom>
          <a:solidFill>
            <a:srgbClr val="E85B46"/>
          </a:solidFill>
          <a:ln>
            <a:solidFill>
              <a:srgbClr val="E85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0" y="2267712"/>
            <a:ext cx="1920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C252C"/>
                </a:solidFill>
                <a:latin typeface="Aptos"/>
              </a:rPr>
              <a:t>2  METADATA-DRIVEN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08592" y="3063240"/>
            <a:ext cx="2331720" cy="694944"/>
          </a:xfrm>
          <a:prstGeom prst="roundRect">
            <a:avLst>
              <a:gd name="adj" fmla="val 8000"/>
            </a:avLst>
          </a:prstGeom>
          <a:solidFill>
            <a:srgbClr val="007A80"/>
          </a:solidFill>
          <a:ln>
            <a:solidFill>
              <a:srgbClr val="007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0" y="3273552"/>
            <a:ext cx="1920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3  MULTI-ENGINE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08592" y="5001768"/>
            <a:ext cx="2331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Validated in Hackathon Demo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08592" y="5504688"/>
            <a:ext cx="2331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C4CDD2"/>
                </a:solidFill>
                <a:latin typeface="Aptos"/>
              </a:rPr>
              <a:t>Architecture and decision guide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6144768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E6970"/>
                </a:solidFill>
                <a:latin typeface="Aptos"/>
              </a:rPr>
              <a:t>22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A80"/>
          </a:solidFill>
          <a:ln>
            <a:solidFill>
              <a:srgbClr val="007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20040"/>
            <a:ext cx="4114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7A80"/>
                </a:solidFill>
                <a:latin typeface="Aptos"/>
              </a:rPr>
              <a:t>ARCHITECTURE SPECTRUM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0080"/>
            <a:ext cx="1078992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C252C"/>
                </a:solidFill>
                <a:latin typeface="Aptos Display"/>
              </a:rPr>
              <a:t>One outcome, three levels of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E6970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1481328"/>
            <a:ext cx="3429000" cy="43159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D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0352" y="1481328"/>
            <a:ext cx="3429000" cy="146304"/>
          </a:xfrm>
          <a:prstGeom prst="rect">
            <a:avLst/>
          </a:prstGeom>
          <a:solidFill>
            <a:srgbClr val="F4BE34"/>
          </a:solidFill>
          <a:ln>
            <a:solidFill>
              <a:srgbClr val="F4BE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847088"/>
            <a:ext cx="2880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4BE34"/>
                </a:solidFill>
                <a:latin typeface="Aptos"/>
              </a:rPr>
              <a:t>SIMPLE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267712"/>
            <a:ext cx="2880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C252C"/>
                </a:solidFill>
                <a:latin typeface="Aptos"/>
              </a:rPr>
              <a:t>Manual + notebook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" y="2770632"/>
            <a:ext cx="2907792" cy="694944"/>
          </a:xfrm>
          <a:prstGeom prst="roundRect">
            <a:avLst>
              <a:gd name="adj" fmla="val 8000"/>
            </a:avLst>
          </a:prstGeom>
          <a:solidFill>
            <a:srgbClr val="FBF1CF"/>
          </a:solidFill>
          <a:ln>
            <a:solidFill>
              <a:srgbClr val="FBF1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2926080"/>
            <a:ext cx="2606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C252C"/>
                </a:solidFill>
                <a:latin typeface="Aptos"/>
              </a:rPr>
              <a:t>Speed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3749039"/>
            <a:ext cx="28803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C252C"/>
                </a:solidFill>
                <a:latin typeface="Aptos"/>
              </a:defRPr>
            </a:pPr>
            <a:r>
              <a:t>- Fastest to start</a:t>
            </a:r>
          </a:p>
          <a:p>
            <a:pPr>
              <a:spcAft>
                <a:spcPts val="800"/>
              </a:spcAft>
              <a:defRPr sz="1300">
                <a:solidFill>
                  <a:srgbClr val="1C252C"/>
                </a:solidFill>
                <a:latin typeface="Aptos"/>
              </a:defRPr>
            </a:pPr>
            <a:r>
              <a:t>- Fewest moving parts</a:t>
            </a:r>
          </a:p>
          <a:p>
            <a:pPr>
              <a:spcAft>
                <a:spcPts val="800"/>
              </a:spcAft>
              <a:defRPr sz="1300">
                <a:solidFill>
                  <a:srgbClr val="1C252C"/>
                </a:solidFill>
                <a:latin typeface="Aptos"/>
              </a:defRPr>
            </a:pPr>
            <a:r>
              <a:t>- Best for rehearsal and exploration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5321808"/>
            <a:ext cx="2880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E6970"/>
                </a:solidFill>
                <a:latin typeface="Aptos"/>
              </a:rPr>
              <a:t>Hours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481328"/>
            <a:ext cx="3429000" cy="43159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D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1481328"/>
            <a:ext cx="3429000" cy="146304"/>
          </a:xfrm>
          <a:prstGeom prst="rect">
            <a:avLst/>
          </a:prstGeom>
          <a:solidFill>
            <a:srgbClr val="E85B46"/>
          </a:solidFill>
          <a:ln>
            <a:solidFill>
              <a:srgbClr val="E85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45152" y="1847088"/>
            <a:ext cx="2880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85B46"/>
                </a:solidFill>
                <a:latin typeface="Aptos"/>
              </a:rPr>
              <a:t>SOLUTION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5152" y="2267712"/>
            <a:ext cx="2880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C252C"/>
                </a:solidFill>
                <a:latin typeface="Aptos"/>
              </a:rPr>
              <a:t>Control-driven ingestion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45152" y="2770632"/>
            <a:ext cx="2907792" cy="694944"/>
          </a:xfrm>
          <a:prstGeom prst="roundRect">
            <a:avLst>
              <a:gd name="adj" fmla="val 8000"/>
            </a:avLst>
          </a:prstGeom>
          <a:solidFill>
            <a:srgbClr val="FAE4DF"/>
          </a:solidFill>
          <a:ln>
            <a:solidFill>
              <a:srgbClr val="FA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0600" y="2926080"/>
            <a:ext cx="2606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C252C"/>
                </a:solidFill>
                <a:latin typeface="Aptos"/>
              </a:rPr>
              <a:t>Repeatability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45152" y="3749039"/>
            <a:ext cx="28803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C252C"/>
                </a:solidFill>
                <a:latin typeface="Aptos"/>
              </a:defRPr>
            </a:pPr>
            <a:r>
              <a:t>- Incremental Delta merge</a:t>
            </a:r>
          </a:p>
          <a:p>
            <a:pPr>
              <a:spcAft>
                <a:spcPts val="800"/>
              </a:spcAft>
              <a:defRPr sz="1300">
                <a:solidFill>
                  <a:srgbClr val="1C252C"/>
                </a:solidFill>
                <a:latin typeface="Aptos"/>
              </a:defRPr>
            </a:pPr>
            <a:r>
              <a:t>- Reusable metadata pattern</a:t>
            </a:r>
          </a:p>
          <a:p>
            <a:pPr>
              <a:spcAft>
                <a:spcPts val="800"/>
              </a:spcAft>
              <a:defRPr sz="1300">
                <a:solidFill>
                  <a:srgbClr val="1C252C"/>
                </a:solidFill>
                <a:latin typeface="Aptos"/>
              </a:defRPr>
            </a:pPr>
            <a:r>
              <a:t>- Isolated Solution2 schema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45152" y="5321808"/>
            <a:ext cx="2880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E6970"/>
                </a:solidFill>
                <a:latin typeface="Aptos"/>
              </a:rPr>
              <a:t>Days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47888" y="1481328"/>
            <a:ext cx="3429000" cy="43159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D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47888" y="1481328"/>
            <a:ext cx="3429000" cy="146304"/>
          </a:xfrm>
          <a:prstGeom prst="rect">
            <a:avLst/>
          </a:prstGeom>
          <a:solidFill>
            <a:srgbClr val="007A80"/>
          </a:solidFill>
          <a:ln>
            <a:solidFill>
              <a:srgbClr val="007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19" y="1847088"/>
            <a:ext cx="2880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07A80"/>
                </a:solidFill>
                <a:latin typeface="Aptos"/>
              </a:rPr>
              <a:t>SOLUTION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19" y="2267712"/>
            <a:ext cx="2880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C252C"/>
                </a:solidFill>
                <a:latin typeface="Aptos"/>
              </a:rPr>
              <a:t>Multi-engine medallion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03919" y="2770632"/>
            <a:ext cx="2907792" cy="694944"/>
          </a:xfrm>
          <a:prstGeom prst="roundRect">
            <a:avLst>
              <a:gd name="adj" fmla="val 8000"/>
            </a:avLst>
          </a:prstGeom>
          <a:solidFill>
            <a:srgbClr val="DDF0EF"/>
          </a:solidFill>
          <a:ln>
            <a:solidFill>
              <a:srgbClr val="DDF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59367" y="2926080"/>
            <a:ext cx="2606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C252C"/>
                </a:solidFill>
                <a:latin typeface="Aptos"/>
              </a:rPr>
              <a:t>Governance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19" y="3749039"/>
            <a:ext cx="28803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C252C"/>
                </a:solidFill>
                <a:latin typeface="Aptos"/>
              </a:defRPr>
            </a:pPr>
            <a:r>
              <a:t>- Dedicated Bronze/Silver/Gold</a:t>
            </a:r>
          </a:p>
          <a:p>
            <a:pPr>
              <a:spcAft>
                <a:spcPts val="800"/>
              </a:spcAft>
              <a:defRPr sz="1300">
                <a:solidFill>
                  <a:srgbClr val="1C252C"/>
                </a:solidFill>
                <a:latin typeface="Aptos"/>
              </a:defRPr>
            </a:pPr>
            <a:r>
              <a:t>- Pipeline + Dataflow + T-SQL</a:t>
            </a:r>
          </a:p>
          <a:p>
            <a:pPr>
              <a:spcAft>
                <a:spcPts val="800"/>
              </a:spcAft>
              <a:defRPr sz="1300">
                <a:solidFill>
                  <a:srgbClr val="1C252C"/>
                </a:solidFill>
                <a:latin typeface="Aptos"/>
              </a:defRPr>
            </a:pPr>
            <a:r>
              <a:t>- Warehouse audit and DQ evidence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19" y="5321808"/>
            <a:ext cx="2880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E6970"/>
                </a:solidFill>
                <a:latin typeface="Aptos"/>
              </a:rPr>
              <a:t>Production pattern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" y="6519672"/>
            <a:ext cx="6400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E6970"/>
                </a:solidFill>
                <a:latin typeface="Aptos"/>
              </a:rPr>
              <a:t>Microsoft Fabric | Manchester Data Pipelines Hack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A80"/>
          </a:solidFill>
          <a:ln>
            <a:solidFill>
              <a:srgbClr val="007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20040"/>
            <a:ext cx="4114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7A80"/>
                </a:solidFill>
                <a:latin typeface="Aptos"/>
              </a:rPr>
              <a:t>SOLUTION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0080"/>
            <a:ext cx="1078992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C252C"/>
                </a:solidFill>
                <a:latin typeface="Aptos Display"/>
              </a:rPr>
              <a:t>Simple: quickest route from CSV to insight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E6970"/>
                </a:solidFill>
                <a:latin typeface="Apto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1298448"/>
            <a:ext cx="2606040" cy="310896"/>
          </a:xfrm>
          <a:prstGeom prst="roundRect">
            <a:avLst>
              <a:gd name="adj" fmla="val 8000"/>
            </a:avLst>
          </a:prstGeom>
          <a:solidFill>
            <a:srgbClr val="FBF1CF"/>
          </a:solidFill>
          <a:ln>
            <a:solidFill>
              <a:srgbClr val="FBF1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307592"/>
            <a:ext cx="26060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1C252C"/>
                </a:solidFill>
                <a:latin typeface="Aptos"/>
              </a:rPr>
              <a:t>BEST FOR: REHEARSAL / PROTOTYPE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057400"/>
            <a:ext cx="18288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D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2057400"/>
            <a:ext cx="73152" cy="1051560"/>
          </a:xfrm>
          <a:prstGeom prst="rect">
            <a:avLst/>
          </a:prstGeom>
          <a:solidFill>
            <a:srgbClr val="F4BE34"/>
          </a:solidFill>
          <a:ln>
            <a:solidFill>
              <a:srgbClr val="F4BE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2194560"/>
            <a:ext cx="1508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C252C"/>
                </a:solidFill>
                <a:latin typeface="Aptos"/>
              </a:rPr>
              <a:t>CSV files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542032"/>
            <a:ext cx="1508760" cy="4846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E6970"/>
                </a:solidFill>
                <a:latin typeface="Aptos"/>
              </a:rPr>
              <a:t>Local rehearsal datasets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2057400"/>
            <a:ext cx="18288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D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88920" y="2057400"/>
            <a:ext cx="73152" cy="1051560"/>
          </a:xfrm>
          <a:prstGeom prst="rect">
            <a:avLst/>
          </a:prstGeom>
          <a:solidFill>
            <a:srgbClr val="3269A8"/>
          </a:solidFill>
          <a:ln>
            <a:solidFill>
              <a:srgbClr val="326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90088" y="2194560"/>
            <a:ext cx="1508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C252C"/>
                </a:solidFill>
                <a:latin typeface="Aptos"/>
              </a:rPr>
              <a:t>Lakehouse Files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0088" y="2542032"/>
            <a:ext cx="1508760" cy="4846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E6970"/>
                </a:solidFill>
                <a:latin typeface="Aptos"/>
              </a:rPr>
              <a:t>Manual upload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83480" y="2057400"/>
            <a:ext cx="20574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D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83480" y="2057400"/>
            <a:ext cx="73152" cy="1051560"/>
          </a:xfrm>
          <a:prstGeom prst="rect">
            <a:avLst/>
          </a:prstGeom>
          <a:solidFill>
            <a:srgbClr val="E85B46"/>
          </a:solidFill>
          <a:ln>
            <a:solidFill>
              <a:srgbClr val="E85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84648" y="2194560"/>
            <a:ext cx="17373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C252C"/>
                </a:solidFill>
                <a:latin typeface="Aptos"/>
              </a:rPr>
              <a:t>Notebook or Dataflow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84648" y="2542032"/>
            <a:ext cx="1737360" cy="4846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E6970"/>
                </a:solidFill>
                <a:latin typeface="Aptos"/>
              </a:rPr>
              <a:t>Clean, type, flag DQ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06640" y="2057400"/>
            <a:ext cx="18288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D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06640" y="2057400"/>
            <a:ext cx="73152" cy="1051560"/>
          </a:xfrm>
          <a:prstGeom prst="rect">
            <a:avLst/>
          </a:prstGeom>
          <a:solidFill>
            <a:srgbClr val="43915E"/>
          </a:solidFill>
          <a:ln>
            <a:solidFill>
              <a:srgbClr val="439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7808" y="2194560"/>
            <a:ext cx="1508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C252C"/>
                </a:solidFill>
                <a:latin typeface="Aptos"/>
              </a:rPr>
              <a:t>Gold tables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07808" y="2542032"/>
            <a:ext cx="1508760" cy="4846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E6970"/>
                </a:solidFill>
                <a:latin typeface="Aptos"/>
              </a:rPr>
              <a:t>Facts + dimensions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01200" y="2057400"/>
            <a:ext cx="196596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D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01200" y="2057400"/>
            <a:ext cx="73152" cy="1051560"/>
          </a:xfrm>
          <a:prstGeom prst="rect">
            <a:avLst/>
          </a:prstGeom>
          <a:solidFill>
            <a:srgbClr val="007A80"/>
          </a:solidFill>
          <a:ln>
            <a:solidFill>
              <a:srgbClr val="007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02368" y="2194560"/>
            <a:ext cx="16459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C252C"/>
                </a:solidFill>
                <a:latin typeface="Aptos"/>
              </a:rPr>
              <a:t>Power BI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02368" y="2542032"/>
            <a:ext cx="1645919" cy="4846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E6970"/>
                </a:solidFill>
                <a:latin typeface="Aptos"/>
              </a:rPr>
              <a:t>Model + intervention report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23160" y="2578608"/>
            <a:ext cx="365760" cy="0"/>
          </a:xfrm>
          <a:prstGeom prst="line">
            <a:avLst/>
          </a:prstGeom>
          <a:ln w="28575">
            <a:solidFill>
              <a:srgbClr val="5E69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617720" y="2578608"/>
            <a:ext cx="365760" cy="0"/>
          </a:xfrm>
          <a:prstGeom prst="line">
            <a:avLst/>
          </a:prstGeom>
          <a:ln w="28575">
            <a:solidFill>
              <a:srgbClr val="5E69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040880" y="2578608"/>
            <a:ext cx="365760" cy="0"/>
          </a:xfrm>
          <a:prstGeom prst="line">
            <a:avLst/>
          </a:prstGeom>
          <a:ln w="28575">
            <a:solidFill>
              <a:srgbClr val="5E69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235440" y="2578608"/>
            <a:ext cx="365760" cy="0"/>
          </a:xfrm>
          <a:prstGeom prst="line">
            <a:avLst/>
          </a:prstGeom>
          <a:ln w="28575">
            <a:solidFill>
              <a:srgbClr val="5E69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594360" y="3703320"/>
            <a:ext cx="5230368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D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3950208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C252C"/>
                </a:solidFill>
                <a:latin typeface="Aptos"/>
              </a:rPr>
              <a:t>What it optimizes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4389120"/>
            <a:ext cx="45262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C252C"/>
                </a:solidFill>
                <a:latin typeface="Aptos"/>
              </a:defRPr>
            </a:pPr>
            <a:r>
              <a:t>- Low setup effort and rapid iteration</a:t>
            </a:r>
          </a:p>
          <a:p>
            <a:pPr>
              <a:spcAft>
                <a:spcPts val="800"/>
              </a:spcAft>
              <a:defRPr sz="1300">
                <a:solidFill>
                  <a:srgbClr val="1C252C"/>
                </a:solidFill>
                <a:latin typeface="Aptos"/>
              </a:defRPr>
            </a:pPr>
            <a:r>
              <a:t>- Easy inspection in a single notebook</a:t>
            </a:r>
          </a:p>
          <a:p>
            <a:pPr>
              <a:spcAft>
                <a:spcPts val="800"/>
              </a:spcAft>
              <a:defRPr sz="1300">
                <a:solidFill>
                  <a:srgbClr val="1C252C"/>
                </a:solidFill>
                <a:latin typeface="Aptos"/>
              </a:defRPr>
            </a:pPr>
            <a:r>
              <a:t>- Direct path to the stakeholder report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53912" y="3703320"/>
            <a:ext cx="5413248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D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28232" y="3950208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C252C"/>
                </a:solidFill>
                <a:latin typeface="Aptos"/>
              </a:rPr>
              <a:t>Trade-offs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28232" y="4389120"/>
            <a:ext cx="45720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C252C"/>
                </a:solidFill>
                <a:latin typeface="Aptos"/>
              </a:defRPr>
            </a:pPr>
            <a:r>
              <a:t>- Manual landing and rerun discipline</a:t>
            </a:r>
          </a:p>
          <a:p>
            <a:pPr>
              <a:spcAft>
                <a:spcPts val="800"/>
              </a:spcAft>
              <a:defRPr sz="1300">
                <a:solidFill>
                  <a:srgbClr val="1C252C"/>
                </a:solidFill>
                <a:latin typeface="Aptos"/>
              </a:defRPr>
            </a:pPr>
            <a:r>
              <a:t>- Limited operational audit trail</a:t>
            </a:r>
          </a:p>
          <a:p>
            <a:pPr>
              <a:spcAft>
                <a:spcPts val="800"/>
              </a:spcAft>
              <a:defRPr sz="1300">
                <a:solidFill>
                  <a:srgbClr val="1C252C"/>
                </a:solidFill>
                <a:latin typeface="Aptos"/>
              </a:defRPr>
            </a:pPr>
            <a:r>
              <a:t>- Harder to scale across many entities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0352" y="6519672"/>
            <a:ext cx="6400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E6970"/>
                </a:solidFill>
                <a:latin typeface="Aptos"/>
              </a:rPr>
              <a:t>Microsoft Fabric | Manchester Data Pipelines Hack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A80"/>
          </a:solidFill>
          <a:ln>
            <a:solidFill>
              <a:srgbClr val="007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20040"/>
            <a:ext cx="4114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7A80"/>
                </a:solidFill>
                <a:latin typeface="Aptos"/>
              </a:rPr>
              <a:t>SOLUTION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0080"/>
            <a:ext cx="1078992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C252C"/>
                </a:solidFill>
                <a:latin typeface="Aptos Display"/>
              </a:rPr>
              <a:t>Metadata-driven incremental ingestion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E6970"/>
                </a:solidFill>
                <a:latin typeface="Apto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1298448"/>
            <a:ext cx="2423160" cy="310896"/>
          </a:xfrm>
          <a:prstGeom prst="roundRect">
            <a:avLst>
              <a:gd name="adj" fmla="val 8000"/>
            </a:avLst>
          </a:prstGeom>
          <a:solidFill>
            <a:srgbClr val="FAE4DF"/>
          </a:solidFill>
          <a:ln>
            <a:solidFill>
              <a:srgbClr val="FA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307592"/>
            <a:ext cx="24231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1C252C"/>
                </a:solidFill>
                <a:latin typeface="Aptos"/>
              </a:rPr>
              <a:t>BEST FOR: REUSABLE INGESTION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874519"/>
            <a:ext cx="160020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D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874519"/>
            <a:ext cx="73152" cy="960120"/>
          </a:xfrm>
          <a:prstGeom prst="rect">
            <a:avLst/>
          </a:prstGeom>
          <a:solidFill>
            <a:srgbClr val="3269A8"/>
          </a:solidFill>
          <a:ln>
            <a:solidFill>
              <a:srgbClr val="326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2011679"/>
            <a:ext cx="12801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C252C"/>
                </a:solidFill>
                <a:latin typeface="Aptos"/>
              </a:rPr>
              <a:t>GitHub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359152"/>
            <a:ext cx="128016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E6970"/>
                </a:solidFill>
                <a:latin typeface="Aptos"/>
              </a:rPr>
              <a:t>Seven source CSVs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246120"/>
            <a:ext cx="2011680" cy="1143000"/>
          </a:xfrm>
          <a:prstGeom prst="roundRect">
            <a:avLst>
              <a:gd name="adj" fmla="val 8000"/>
            </a:avLst>
          </a:prstGeom>
          <a:solidFill>
            <a:srgbClr val="FAE4DF"/>
          </a:solidFill>
          <a:ln>
            <a:solidFill>
              <a:srgbClr val="DAD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3246120"/>
            <a:ext cx="73152" cy="1143000"/>
          </a:xfrm>
          <a:prstGeom prst="rect">
            <a:avLst/>
          </a:prstGeom>
          <a:solidFill>
            <a:srgbClr val="E85B46"/>
          </a:solidFill>
          <a:ln>
            <a:solidFill>
              <a:srgbClr val="E85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3383279"/>
            <a:ext cx="1691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C252C"/>
                </a:solidFill>
                <a:latin typeface="Aptos"/>
              </a:rPr>
              <a:t>load_control.csv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3730752"/>
            <a:ext cx="1691640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E6970"/>
                </a:solidFill>
                <a:latin typeface="Aptos"/>
              </a:rPr>
              <a:t>Enabled, target, mode, keys, watermark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17520" y="2331720"/>
            <a:ext cx="1874519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D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017520" y="2331720"/>
            <a:ext cx="73152" cy="1051560"/>
          </a:xfrm>
          <a:prstGeom prst="rect">
            <a:avLst/>
          </a:prstGeom>
          <a:solidFill>
            <a:srgbClr val="E85B46"/>
          </a:solidFill>
          <a:ln>
            <a:solidFill>
              <a:srgbClr val="E85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18688" y="2468879"/>
            <a:ext cx="155447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C252C"/>
                </a:solidFill>
                <a:latin typeface="Aptos"/>
              </a:rPr>
              <a:t>Lookup + Filter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18688" y="2816352"/>
            <a:ext cx="1554479" cy="4846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E6970"/>
                </a:solidFill>
                <a:latin typeface="Aptos"/>
              </a:rPr>
              <a:t>Read enabled control rows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85232" y="2331720"/>
            <a:ext cx="16002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D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85232" y="2331720"/>
            <a:ext cx="73152" cy="1051560"/>
          </a:xfrm>
          <a:prstGeom prst="rect">
            <a:avLst/>
          </a:prstGeom>
          <a:solidFill>
            <a:srgbClr val="F4BE34"/>
          </a:solidFill>
          <a:ln>
            <a:solidFill>
              <a:srgbClr val="F4BE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0" y="2468879"/>
            <a:ext cx="12801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C252C"/>
                </a:solidFill>
                <a:latin typeface="Aptos"/>
              </a:rPr>
              <a:t>ForEach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2816352"/>
            <a:ext cx="1280160" cy="4846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E6970"/>
                </a:solidFill>
                <a:latin typeface="Aptos"/>
              </a:rPr>
              <a:t>Sequential per entity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0" y="1719072"/>
            <a:ext cx="196596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D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0" y="1719072"/>
            <a:ext cx="73152" cy="1051560"/>
          </a:xfrm>
          <a:prstGeom prst="rect">
            <a:avLst/>
          </a:prstGeom>
          <a:solidFill>
            <a:srgbClr val="3269A8"/>
          </a:solidFill>
          <a:ln>
            <a:solidFill>
              <a:srgbClr val="326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16368" y="1856231"/>
            <a:ext cx="16459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C252C"/>
                </a:solidFill>
                <a:latin typeface="Aptos"/>
              </a:rPr>
              <a:t>Copy activity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16368" y="2203704"/>
            <a:ext cx="1645919" cy="4846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E6970"/>
                </a:solidFill>
                <a:latin typeface="Aptos"/>
              </a:rPr>
              <a:t>Land Files/landing/&lt;entity&gt;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0" y="3063240"/>
            <a:ext cx="196596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D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00" y="3063240"/>
            <a:ext cx="73152" cy="1051560"/>
          </a:xfrm>
          <a:prstGeom prst="rect">
            <a:avLst/>
          </a:prstGeom>
          <a:solidFill>
            <a:srgbClr val="E85B46"/>
          </a:solidFill>
          <a:ln>
            <a:solidFill>
              <a:srgbClr val="E85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16368" y="3200400"/>
            <a:ext cx="16459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C252C"/>
                </a:solidFill>
                <a:latin typeface="Aptos"/>
              </a:rPr>
              <a:t>Parameterized notebook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16368" y="3547872"/>
            <a:ext cx="1645919" cy="4846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E6970"/>
                </a:solidFill>
                <a:latin typeface="Aptos"/>
              </a:rPr>
              <a:t>Overwrite or Delta merge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674352" y="2331720"/>
            <a:ext cx="1965960" cy="1234440"/>
          </a:xfrm>
          <a:prstGeom prst="roundRect">
            <a:avLst>
              <a:gd name="adj" fmla="val 8000"/>
            </a:avLst>
          </a:prstGeom>
          <a:solidFill>
            <a:srgbClr val="DDF0EF"/>
          </a:solidFill>
          <a:ln>
            <a:solidFill>
              <a:srgbClr val="DAD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674352" y="2331720"/>
            <a:ext cx="73152" cy="1234440"/>
          </a:xfrm>
          <a:prstGeom prst="rect">
            <a:avLst/>
          </a:prstGeom>
          <a:solidFill>
            <a:srgbClr val="007A80"/>
          </a:solidFill>
          <a:ln>
            <a:solidFill>
              <a:srgbClr val="007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75520" y="2468879"/>
            <a:ext cx="16459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C252C"/>
                </a:solidFill>
                <a:latin typeface="Aptos"/>
              </a:rPr>
              <a:t>lh_station_ops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75520" y="2816352"/>
            <a:ext cx="1645919" cy="667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E6970"/>
                </a:solidFill>
                <a:latin typeface="Aptos"/>
              </a:rPr>
              <a:t>Solution2 schema + ingestion audit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2194560" y="2350008"/>
            <a:ext cx="822960" cy="329184"/>
          </a:xfrm>
          <a:prstGeom prst="line">
            <a:avLst/>
          </a:prstGeom>
          <a:ln w="28575">
            <a:solidFill>
              <a:srgbClr val="5E69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2606040" y="3017520"/>
            <a:ext cx="411480" cy="640080"/>
          </a:xfrm>
          <a:prstGeom prst="line">
            <a:avLst/>
          </a:prstGeom>
          <a:ln w="28575">
            <a:solidFill>
              <a:srgbClr val="5E69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4892040" y="2852928"/>
            <a:ext cx="393192" cy="0"/>
          </a:xfrm>
          <a:prstGeom prst="line">
            <a:avLst/>
          </a:prstGeom>
          <a:ln w="28575">
            <a:solidFill>
              <a:srgbClr val="5E69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6885432" y="2240280"/>
            <a:ext cx="429768" cy="438912"/>
          </a:xfrm>
          <a:prstGeom prst="line">
            <a:avLst/>
          </a:prstGeom>
          <a:ln w="28575">
            <a:solidFill>
              <a:srgbClr val="5E69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302752" y="2770632"/>
            <a:ext cx="0" cy="292608"/>
          </a:xfrm>
          <a:prstGeom prst="line">
            <a:avLst/>
          </a:prstGeom>
          <a:ln w="28575">
            <a:solidFill>
              <a:srgbClr val="5E69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9281160" y="3017520"/>
            <a:ext cx="393192" cy="576072"/>
          </a:xfrm>
          <a:prstGeom prst="line">
            <a:avLst/>
          </a:prstGeom>
          <a:ln w="28575">
            <a:solidFill>
              <a:srgbClr val="5E69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594360" y="4919472"/>
            <a:ext cx="11045952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D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1248" y="5138928"/>
            <a:ext cx="1508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85B46"/>
                </a:solidFill>
                <a:latin typeface="Aptos"/>
              </a:rPr>
              <a:t>Incremental logic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487168" y="5120640"/>
            <a:ext cx="6446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C252C"/>
                </a:solidFill>
                <a:latin typeface="Aptos"/>
              </a:rPr>
              <a:t>TRUNCATE for dimensions | INCREMENTAL merge for facts | Optional target-max watermark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53728" y="5138928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E6970"/>
                </a:solidFill>
                <a:latin typeface="Aptos"/>
              </a:rPr>
              <a:t>Isolation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58400" y="5120640"/>
            <a:ext cx="1234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7A80"/>
                </a:solidFill>
                <a:latin typeface="Aptos"/>
              </a:rPr>
              <a:t>Solution2.*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0352" y="6519672"/>
            <a:ext cx="6400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E6970"/>
                </a:solidFill>
                <a:latin typeface="Aptos"/>
              </a:rPr>
              <a:t>Microsoft Fabric | Manchester Data Pipelines Hack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A80"/>
          </a:solidFill>
          <a:ln>
            <a:solidFill>
              <a:srgbClr val="007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20040"/>
            <a:ext cx="4114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7A80"/>
                </a:solidFill>
                <a:latin typeface="Aptos"/>
              </a:rPr>
              <a:t>SOLUTION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0080"/>
            <a:ext cx="1078992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C252C"/>
                </a:solidFill>
                <a:latin typeface="Aptos Display"/>
              </a:rPr>
              <a:t>Multi-engine medallion with operational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E6970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1298448"/>
            <a:ext cx="3520440" cy="310896"/>
          </a:xfrm>
          <a:prstGeom prst="roundRect">
            <a:avLst>
              <a:gd name="adj" fmla="val 8000"/>
            </a:avLst>
          </a:prstGeom>
          <a:solidFill>
            <a:srgbClr val="DDF0EF"/>
          </a:solidFill>
          <a:ln>
            <a:solidFill>
              <a:srgbClr val="DDF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307592"/>
            <a:ext cx="35204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1C252C"/>
                </a:solidFill>
                <a:latin typeface="Aptos"/>
              </a:rPr>
              <a:t>BEST FOR: GOVERNED DEMO / PRODUCTION PATTERN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1920240"/>
            <a:ext cx="1810512" cy="2121408"/>
          </a:xfrm>
          <a:prstGeom prst="roundRect">
            <a:avLst>
              <a:gd name="adj" fmla="val 8000"/>
            </a:avLst>
          </a:prstGeom>
          <a:solidFill>
            <a:srgbClr val="E1EBF7"/>
          </a:solidFill>
          <a:ln>
            <a:solidFill>
              <a:srgbClr val="326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2167128"/>
            <a:ext cx="148132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3269A8"/>
                </a:solidFill>
                <a:latin typeface="Aptos"/>
              </a:rPr>
              <a:t>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2761488"/>
            <a:ext cx="1517904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C252C"/>
                </a:solidFill>
                <a:latin typeface="Aptos"/>
              </a:rPr>
              <a:t>GitHub CSV + control manifest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40" y="1920240"/>
            <a:ext cx="1810512" cy="2121408"/>
          </a:xfrm>
          <a:prstGeom prst="roundRect">
            <a:avLst>
              <a:gd name="adj" fmla="val 8000"/>
            </a:avLst>
          </a:prstGeom>
          <a:solidFill>
            <a:srgbClr val="FBF1CF"/>
          </a:solidFill>
          <a:ln>
            <a:solidFill>
              <a:srgbClr val="F4BE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99232" y="2167128"/>
            <a:ext cx="148132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4BE34"/>
                </a:solidFill>
                <a:latin typeface="Aptos"/>
              </a:rPr>
              <a:t>BRONZE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80944" y="2761488"/>
            <a:ext cx="1517904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C252C"/>
                </a:solidFill>
                <a:latin typeface="Aptos"/>
              </a:rPr>
              <a:t>Pipeline Copy + Spark notebook
lh_git_bronze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21808" y="1920240"/>
            <a:ext cx="1810512" cy="2121408"/>
          </a:xfrm>
          <a:prstGeom prst="roundRect">
            <a:avLst>
              <a:gd name="adj" fmla="val 8000"/>
            </a:avLst>
          </a:prstGeom>
          <a:solidFill>
            <a:srgbClr val="FAE4DF"/>
          </a:solidFill>
          <a:ln>
            <a:solidFill>
              <a:srgbClr val="E85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0" y="2167128"/>
            <a:ext cx="148132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E85B46"/>
                </a:solidFill>
                <a:latin typeface="Aptos"/>
              </a:rPr>
              <a:t>SILVER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68112" y="2761488"/>
            <a:ext cx="1517904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C252C"/>
                </a:solidFill>
                <a:latin typeface="Aptos"/>
              </a:rPr>
              <a:t>Dataflow Gen2 / Power Query
lh_dataflow_silver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08975" y="1920240"/>
            <a:ext cx="1810512" cy="2121408"/>
          </a:xfrm>
          <a:prstGeom prst="roundRect">
            <a:avLst>
              <a:gd name="adj" fmla="val 8000"/>
            </a:avLst>
          </a:prstGeom>
          <a:solidFill>
            <a:srgbClr val="DDF0EF"/>
          </a:solidFill>
          <a:ln>
            <a:solidFill>
              <a:srgbClr val="007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73567" y="2167128"/>
            <a:ext cx="148132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07A80"/>
                </a:solidFill>
                <a:latin typeface="Aptos"/>
              </a:rPr>
              <a:t>GOLD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2761488"/>
            <a:ext cx="1517904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C252C"/>
                </a:solidFill>
                <a:latin typeface="Aptos"/>
              </a:rPr>
              <a:t>T-SQL stored procedure
wh_storedproc_gold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113264" y="1920240"/>
            <a:ext cx="1810512" cy="2121408"/>
          </a:xfrm>
          <a:prstGeom prst="roundRect">
            <a:avLst>
              <a:gd name="adj" fmla="val 8000"/>
            </a:avLst>
          </a:prstGeom>
          <a:solidFill>
            <a:srgbClr val="E2F0E4"/>
          </a:solidFill>
          <a:ln>
            <a:solidFill>
              <a:srgbClr val="439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77856" y="2167128"/>
            <a:ext cx="148132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43915E"/>
                </a:solidFill>
                <a:latin typeface="Aptos"/>
              </a:rPr>
              <a:t>CONSUME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59568" y="2761488"/>
            <a:ext cx="1517904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C252C"/>
                </a:solidFill>
                <a:latin typeface="Aptos"/>
              </a:rPr>
              <a:t>Semantic model + Power BI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340864" y="2971800"/>
            <a:ext cx="493776" cy="0"/>
          </a:xfrm>
          <a:prstGeom prst="line">
            <a:avLst/>
          </a:prstGeom>
          <a:ln w="31750">
            <a:solidFill>
              <a:srgbClr val="5E69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645152" y="2971800"/>
            <a:ext cx="676656" cy="0"/>
          </a:xfrm>
          <a:prstGeom prst="line">
            <a:avLst/>
          </a:prstGeom>
          <a:ln w="31750">
            <a:solidFill>
              <a:srgbClr val="5E69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132320" y="2971800"/>
            <a:ext cx="676655" cy="0"/>
          </a:xfrm>
          <a:prstGeom prst="line">
            <a:avLst/>
          </a:prstGeom>
          <a:ln w="31750">
            <a:solidFill>
              <a:srgbClr val="5E69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619488" y="2971800"/>
            <a:ext cx="493776" cy="0"/>
          </a:xfrm>
          <a:prstGeom prst="line">
            <a:avLst/>
          </a:prstGeom>
          <a:ln w="31750">
            <a:solidFill>
              <a:srgbClr val="5E69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1444752" y="4526280"/>
            <a:ext cx="9281160" cy="1252728"/>
          </a:xfrm>
          <a:prstGeom prst="roundRect">
            <a:avLst>
              <a:gd name="adj" fmla="val 8000"/>
            </a:avLst>
          </a:prstGeom>
          <a:solidFill>
            <a:srgbClr val="1C252C"/>
          </a:solidFill>
          <a:ln>
            <a:solidFill>
              <a:srgbClr val="1C25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19072" y="4736592"/>
            <a:ext cx="2331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4BE34"/>
                </a:solidFill>
                <a:latin typeface="Aptos"/>
              </a:rPr>
              <a:t>WAREHOUSE OPERATIONS PLANE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60520" y="4736592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pipeline_run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23560" y="4736592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pipeline_step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86600" y="4736592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reconciliation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49640" y="4736592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data quality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19072" y="5230368"/>
            <a:ext cx="8732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CED7DB"/>
                </a:solidFill>
                <a:latin typeface="Aptos"/>
              </a:rPr>
              <a:t>Bad records remain visible in Silver and are excluded from Gold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0352" y="6519672"/>
            <a:ext cx="6400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E6970"/>
                </a:solidFill>
                <a:latin typeface="Aptos"/>
              </a:rPr>
              <a:t>Microsoft Fabric | Manchester Data Pipelines Hack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A80"/>
          </a:solidFill>
          <a:ln>
            <a:solidFill>
              <a:srgbClr val="007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20040"/>
            <a:ext cx="4114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7A80"/>
                </a:solidFill>
                <a:latin typeface="Aptos"/>
              </a:rPr>
              <a:t>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0080"/>
            <a:ext cx="1078992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C252C"/>
                </a:solidFill>
                <a:latin typeface="Aptos Display"/>
              </a:rPr>
              <a:t>Choose the engineering level that matches the goal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E6970"/>
                </a:solidFill>
                <a:latin typeface="Aptos"/>
              </a:rP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444752"/>
            <a:ext cx="2240280" cy="502920"/>
          </a:xfrm>
          <a:prstGeom prst="rect">
            <a:avLst/>
          </a:prstGeom>
          <a:solidFill>
            <a:srgbClr val="1C252C"/>
          </a:solidFill>
          <a:ln>
            <a:solidFill>
              <a:srgbClr val="1C25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72768"/>
            <a:ext cx="202082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Aptos"/>
              </a:rPr>
              <a:t>Dimension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360" y="1444752"/>
            <a:ext cx="2651760" cy="502920"/>
          </a:xfrm>
          <a:prstGeom prst="rect">
            <a:avLst/>
          </a:prstGeom>
          <a:solidFill>
            <a:srgbClr val="F4BE34"/>
          </a:solidFill>
          <a:ln>
            <a:solidFill>
              <a:srgbClr val="F4BE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90088" y="1572768"/>
            <a:ext cx="243230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C252C"/>
                </a:solidFill>
                <a:latin typeface="Aptos"/>
              </a:rPr>
              <a:t>Simple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50992" y="1444752"/>
            <a:ext cx="2834640" cy="502920"/>
          </a:xfrm>
          <a:prstGeom prst="rect">
            <a:avLst/>
          </a:prstGeom>
          <a:solidFill>
            <a:srgbClr val="E85B46"/>
          </a:solidFill>
          <a:ln>
            <a:solidFill>
              <a:srgbClr val="E85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0" y="1572768"/>
            <a:ext cx="261518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C252C"/>
                </a:solidFill>
                <a:latin typeface="Aptos"/>
              </a:rPr>
              <a:t>Solution 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0" y="1444752"/>
            <a:ext cx="3063240" cy="502920"/>
          </a:xfrm>
          <a:prstGeom prst="rect">
            <a:avLst/>
          </a:prstGeom>
          <a:solidFill>
            <a:srgbClr val="007A80"/>
          </a:solidFill>
          <a:ln>
            <a:solidFill>
              <a:srgbClr val="007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05088" y="1572768"/>
            <a:ext cx="284378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Aptos"/>
              </a:rPr>
              <a:t>Solution 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" y="1947672"/>
            <a:ext cx="2240280" cy="603504"/>
          </a:xfrm>
          <a:prstGeom prst="rect">
            <a:avLst/>
          </a:prstGeom>
          <a:solidFill>
            <a:srgbClr val="FFFFFF"/>
          </a:solidFill>
          <a:ln>
            <a:solidFill>
              <a:srgbClr val="DAD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075688"/>
            <a:ext cx="202082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80" b="1">
                <a:solidFill>
                  <a:srgbClr val="1C252C"/>
                </a:solidFill>
                <a:latin typeface="Aptos"/>
              </a:rPr>
              <a:t>Primary goal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80360" y="1947672"/>
            <a:ext cx="2651760" cy="603504"/>
          </a:xfrm>
          <a:prstGeom prst="rect">
            <a:avLst/>
          </a:prstGeom>
          <a:solidFill>
            <a:srgbClr val="FFFFFF"/>
          </a:solidFill>
          <a:ln>
            <a:solidFill>
              <a:srgbClr val="DAD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90088" y="2075688"/>
            <a:ext cx="243230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80" b="0">
                <a:solidFill>
                  <a:srgbClr val="1C252C"/>
                </a:solidFill>
                <a:latin typeface="Aptos"/>
              </a:rPr>
              <a:t>Speed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50992" y="1947672"/>
            <a:ext cx="2834640" cy="603504"/>
          </a:xfrm>
          <a:prstGeom prst="rect">
            <a:avLst/>
          </a:prstGeom>
          <a:solidFill>
            <a:srgbClr val="FFFFFF"/>
          </a:solidFill>
          <a:ln>
            <a:solidFill>
              <a:srgbClr val="DAD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0" y="2075688"/>
            <a:ext cx="26151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80" b="0">
                <a:solidFill>
                  <a:srgbClr val="1C252C"/>
                </a:solidFill>
                <a:latin typeface="Aptos"/>
              </a:rPr>
              <a:t>Repeatable ingest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95360" y="1947672"/>
            <a:ext cx="3063240" cy="603504"/>
          </a:xfrm>
          <a:prstGeom prst="rect">
            <a:avLst/>
          </a:prstGeom>
          <a:solidFill>
            <a:srgbClr val="FFFFFF"/>
          </a:solidFill>
          <a:ln>
            <a:solidFill>
              <a:srgbClr val="DAD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05088" y="2075688"/>
            <a:ext cx="28437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80" b="0">
                <a:solidFill>
                  <a:srgbClr val="1C252C"/>
                </a:solidFill>
                <a:latin typeface="Aptos"/>
              </a:rPr>
              <a:t>Governed delivery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0352" y="2551176"/>
            <a:ext cx="2240280" cy="603504"/>
          </a:xfrm>
          <a:prstGeom prst="rect">
            <a:avLst/>
          </a:prstGeom>
          <a:solidFill>
            <a:srgbClr val="F0F0EC"/>
          </a:solidFill>
          <a:ln>
            <a:solidFill>
              <a:srgbClr val="DAD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2679192"/>
            <a:ext cx="202082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80" b="1">
                <a:solidFill>
                  <a:srgbClr val="1C252C"/>
                </a:solidFill>
                <a:latin typeface="Aptos"/>
              </a:rPr>
              <a:t>Landing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80360" y="2551176"/>
            <a:ext cx="2651760" cy="603504"/>
          </a:xfrm>
          <a:prstGeom prst="rect">
            <a:avLst/>
          </a:prstGeom>
          <a:solidFill>
            <a:srgbClr val="F0F0EC"/>
          </a:solidFill>
          <a:ln>
            <a:solidFill>
              <a:srgbClr val="DAD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90088" y="2679192"/>
            <a:ext cx="243230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80" b="0">
                <a:solidFill>
                  <a:srgbClr val="1C252C"/>
                </a:solidFill>
                <a:latin typeface="Aptos"/>
              </a:rPr>
              <a:t>Manual upload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50992" y="2551176"/>
            <a:ext cx="2834640" cy="603504"/>
          </a:xfrm>
          <a:prstGeom prst="rect">
            <a:avLst/>
          </a:prstGeom>
          <a:solidFill>
            <a:srgbClr val="F0F0EC"/>
          </a:solidFill>
          <a:ln>
            <a:solidFill>
              <a:srgbClr val="DAD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60720" y="2679192"/>
            <a:ext cx="26151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80" b="0">
                <a:solidFill>
                  <a:srgbClr val="1C252C"/>
                </a:solidFill>
                <a:latin typeface="Aptos"/>
              </a:rPr>
              <a:t>Dynamic Pipeline Copy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95360" y="2551176"/>
            <a:ext cx="3063240" cy="603504"/>
          </a:xfrm>
          <a:prstGeom prst="rect">
            <a:avLst/>
          </a:prstGeom>
          <a:solidFill>
            <a:srgbClr val="F0F0EC"/>
          </a:solidFill>
          <a:ln>
            <a:solidFill>
              <a:srgbClr val="DAD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05088" y="2679192"/>
            <a:ext cx="28437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80" b="0">
                <a:solidFill>
                  <a:srgbClr val="1C252C"/>
                </a:solidFill>
                <a:latin typeface="Aptos"/>
              </a:rPr>
              <a:t>Dynamic Pipeline Copy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30352" y="3154680"/>
            <a:ext cx="2240280" cy="603504"/>
          </a:xfrm>
          <a:prstGeom prst="rect">
            <a:avLst/>
          </a:prstGeom>
          <a:solidFill>
            <a:srgbClr val="FFFFFF"/>
          </a:solidFill>
          <a:ln>
            <a:solidFill>
              <a:srgbClr val="DAD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3282696"/>
            <a:ext cx="202082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80" b="1">
                <a:solidFill>
                  <a:srgbClr val="1C252C"/>
                </a:solidFill>
                <a:latin typeface="Aptos"/>
              </a:rPr>
              <a:t>Transform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80360" y="3154680"/>
            <a:ext cx="2651760" cy="603504"/>
          </a:xfrm>
          <a:prstGeom prst="rect">
            <a:avLst/>
          </a:prstGeom>
          <a:solidFill>
            <a:srgbClr val="FFFFFF"/>
          </a:solidFill>
          <a:ln>
            <a:solidFill>
              <a:srgbClr val="DAD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90088" y="3282696"/>
            <a:ext cx="243230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80" b="0">
                <a:solidFill>
                  <a:srgbClr val="1C252C"/>
                </a:solidFill>
                <a:latin typeface="Aptos"/>
              </a:rPr>
              <a:t>Notebook / Dataflow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50992" y="3154680"/>
            <a:ext cx="2834640" cy="603504"/>
          </a:xfrm>
          <a:prstGeom prst="rect">
            <a:avLst/>
          </a:prstGeom>
          <a:solidFill>
            <a:srgbClr val="FFFFFF"/>
          </a:solidFill>
          <a:ln>
            <a:solidFill>
              <a:srgbClr val="DAD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60720" y="3282696"/>
            <a:ext cx="26151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80" b="0">
                <a:solidFill>
                  <a:srgbClr val="1C252C"/>
                </a:solidFill>
                <a:latin typeface="Aptos"/>
              </a:rPr>
              <a:t>Parameterized Spark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595360" y="3154680"/>
            <a:ext cx="3063240" cy="603504"/>
          </a:xfrm>
          <a:prstGeom prst="rect">
            <a:avLst/>
          </a:prstGeom>
          <a:solidFill>
            <a:srgbClr val="FFFFFF"/>
          </a:solidFill>
          <a:ln>
            <a:solidFill>
              <a:srgbClr val="DAD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05088" y="3282696"/>
            <a:ext cx="28437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80" b="0">
                <a:solidFill>
                  <a:srgbClr val="1C252C"/>
                </a:solidFill>
                <a:latin typeface="Aptos"/>
              </a:rPr>
              <a:t>Spark + Dataflow + T-SQL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30352" y="3758183"/>
            <a:ext cx="2240280" cy="603504"/>
          </a:xfrm>
          <a:prstGeom prst="rect">
            <a:avLst/>
          </a:prstGeom>
          <a:solidFill>
            <a:srgbClr val="F0F0EC"/>
          </a:solidFill>
          <a:ln>
            <a:solidFill>
              <a:srgbClr val="DAD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3886199"/>
            <a:ext cx="202082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80" b="1">
                <a:solidFill>
                  <a:srgbClr val="1C252C"/>
                </a:solidFill>
                <a:latin typeface="Aptos"/>
              </a:rPr>
              <a:t>Incremental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880360" y="3758183"/>
            <a:ext cx="2651760" cy="603504"/>
          </a:xfrm>
          <a:prstGeom prst="rect">
            <a:avLst/>
          </a:prstGeom>
          <a:solidFill>
            <a:srgbClr val="F0F0EC"/>
          </a:solidFill>
          <a:ln>
            <a:solidFill>
              <a:srgbClr val="DAD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990088" y="3886199"/>
            <a:ext cx="243230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80" b="0">
                <a:solidFill>
                  <a:srgbClr val="1C252C"/>
                </a:solidFill>
                <a:latin typeface="Aptos"/>
              </a:rPr>
              <a:t>Manual rerun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50992" y="3758183"/>
            <a:ext cx="2834640" cy="603504"/>
          </a:xfrm>
          <a:prstGeom prst="rect">
            <a:avLst/>
          </a:prstGeom>
          <a:solidFill>
            <a:srgbClr val="F0F0EC"/>
          </a:solidFill>
          <a:ln>
            <a:solidFill>
              <a:srgbClr val="DAD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760720" y="3886199"/>
            <a:ext cx="26151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80" b="0">
                <a:solidFill>
                  <a:srgbClr val="1C252C"/>
                </a:solidFill>
                <a:latin typeface="Aptos"/>
              </a:rPr>
              <a:t>Keys + watermark merge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595360" y="3758183"/>
            <a:ext cx="3063240" cy="603504"/>
          </a:xfrm>
          <a:prstGeom prst="rect">
            <a:avLst/>
          </a:prstGeom>
          <a:solidFill>
            <a:srgbClr val="F0F0EC"/>
          </a:solidFill>
          <a:ln>
            <a:solidFill>
              <a:srgbClr val="DAD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705088" y="3886199"/>
            <a:ext cx="28437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80" b="0">
                <a:solidFill>
                  <a:srgbClr val="1C252C"/>
                </a:solidFill>
                <a:latin typeface="Aptos"/>
              </a:rPr>
              <a:t>Bronze merge; deterministic Silver/Gold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30352" y="4361688"/>
            <a:ext cx="2240280" cy="603504"/>
          </a:xfrm>
          <a:prstGeom prst="rect">
            <a:avLst/>
          </a:prstGeom>
          <a:solidFill>
            <a:srgbClr val="FFFFFF"/>
          </a:solidFill>
          <a:ln>
            <a:solidFill>
              <a:srgbClr val="DAD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4489703"/>
            <a:ext cx="202082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80" b="1">
                <a:solidFill>
                  <a:srgbClr val="1C252C"/>
                </a:solidFill>
                <a:latin typeface="Aptos"/>
              </a:rPr>
              <a:t>Isolation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880360" y="4361688"/>
            <a:ext cx="2651760" cy="603504"/>
          </a:xfrm>
          <a:prstGeom prst="rect">
            <a:avLst/>
          </a:prstGeom>
          <a:solidFill>
            <a:srgbClr val="FFFFFF"/>
          </a:solidFill>
          <a:ln>
            <a:solidFill>
              <a:srgbClr val="DAD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990088" y="4489703"/>
            <a:ext cx="243230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80" b="0">
                <a:solidFill>
                  <a:srgbClr val="1C252C"/>
                </a:solidFill>
                <a:latin typeface="Aptos"/>
              </a:rPr>
              <a:t>Chosen Lakehouse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650992" y="4361688"/>
            <a:ext cx="2834640" cy="603504"/>
          </a:xfrm>
          <a:prstGeom prst="rect">
            <a:avLst/>
          </a:prstGeom>
          <a:solidFill>
            <a:srgbClr val="FFFFFF"/>
          </a:solidFill>
          <a:ln>
            <a:solidFill>
              <a:srgbClr val="DAD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760720" y="4489703"/>
            <a:ext cx="26151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80" b="0">
                <a:solidFill>
                  <a:srgbClr val="1C252C"/>
                </a:solidFill>
                <a:latin typeface="Aptos"/>
              </a:rPr>
              <a:t>Solution2 schema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595360" y="4361688"/>
            <a:ext cx="3063240" cy="603504"/>
          </a:xfrm>
          <a:prstGeom prst="rect">
            <a:avLst/>
          </a:prstGeom>
          <a:solidFill>
            <a:srgbClr val="FFFFFF"/>
          </a:solidFill>
          <a:ln>
            <a:solidFill>
              <a:srgbClr val="DAD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705088" y="4489703"/>
            <a:ext cx="28437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80" b="0">
                <a:solidFill>
                  <a:srgbClr val="1C252C"/>
                </a:solidFill>
                <a:latin typeface="Aptos"/>
              </a:rPr>
              <a:t>Dedicated items per layer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30352" y="4965192"/>
            <a:ext cx="2240280" cy="603504"/>
          </a:xfrm>
          <a:prstGeom prst="rect">
            <a:avLst/>
          </a:prstGeom>
          <a:solidFill>
            <a:srgbClr val="F0F0EC"/>
          </a:solidFill>
          <a:ln>
            <a:solidFill>
              <a:srgbClr val="DAD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080" y="5093207"/>
            <a:ext cx="202082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80" b="1">
                <a:solidFill>
                  <a:srgbClr val="1C252C"/>
                </a:solidFill>
                <a:latin typeface="Aptos"/>
              </a:rPr>
              <a:t>Monitoring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880360" y="4965192"/>
            <a:ext cx="2651760" cy="603504"/>
          </a:xfrm>
          <a:prstGeom prst="rect">
            <a:avLst/>
          </a:prstGeom>
          <a:solidFill>
            <a:srgbClr val="F0F0EC"/>
          </a:solidFill>
          <a:ln>
            <a:solidFill>
              <a:srgbClr val="DAD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990088" y="5093207"/>
            <a:ext cx="243230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80" b="0">
                <a:solidFill>
                  <a:srgbClr val="1C252C"/>
                </a:solidFill>
                <a:latin typeface="Aptos"/>
              </a:rPr>
              <a:t>Notebook output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650992" y="4965192"/>
            <a:ext cx="2834640" cy="603504"/>
          </a:xfrm>
          <a:prstGeom prst="rect">
            <a:avLst/>
          </a:prstGeom>
          <a:solidFill>
            <a:srgbClr val="F0F0EC"/>
          </a:solidFill>
          <a:ln>
            <a:solidFill>
              <a:srgbClr val="DAD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760720" y="5093207"/>
            <a:ext cx="26151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80" b="0">
                <a:solidFill>
                  <a:srgbClr val="1C252C"/>
                </a:solidFill>
                <a:latin typeface="Aptos"/>
              </a:rPr>
              <a:t>Ingestion audit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595360" y="4965192"/>
            <a:ext cx="3063240" cy="603504"/>
          </a:xfrm>
          <a:prstGeom prst="rect">
            <a:avLst/>
          </a:prstGeom>
          <a:solidFill>
            <a:srgbClr val="F0F0EC"/>
          </a:solidFill>
          <a:ln>
            <a:solidFill>
              <a:srgbClr val="DAD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705088" y="5093207"/>
            <a:ext cx="28437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80" b="0">
                <a:solidFill>
                  <a:srgbClr val="1C252C"/>
                </a:solidFill>
                <a:latin typeface="Aptos"/>
              </a:rPr>
              <a:t>Run, step, reconcile, DQ tables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30352" y="5568696"/>
            <a:ext cx="2240280" cy="603504"/>
          </a:xfrm>
          <a:prstGeom prst="rect">
            <a:avLst/>
          </a:prstGeom>
          <a:solidFill>
            <a:srgbClr val="FFFFFF"/>
          </a:solidFill>
          <a:ln>
            <a:solidFill>
              <a:srgbClr val="DAD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0080" y="5696712"/>
            <a:ext cx="202082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80" b="1">
                <a:solidFill>
                  <a:srgbClr val="1C252C"/>
                </a:solidFill>
                <a:latin typeface="Aptos"/>
              </a:rPr>
              <a:t>Best fit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880360" y="5568696"/>
            <a:ext cx="2651760" cy="603504"/>
          </a:xfrm>
          <a:prstGeom prst="rect">
            <a:avLst/>
          </a:prstGeom>
          <a:solidFill>
            <a:srgbClr val="FFFFFF"/>
          </a:solidFill>
          <a:ln>
            <a:solidFill>
              <a:srgbClr val="DAD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990088" y="5696712"/>
            <a:ext cx="243230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80" b="0">
                <a:solidFill>
                  <a:srgbClr val="1C252C"/>
                </a:solidFill>
                <a:latin typeface="Aptos"/>
              </a:rPr>
              <a:t>Workshop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650992" y="5568696"/>
            <a:ext cx="2834640" cy="603504"/>
          </a:xfrm>
          <a:prstGeom prst="rect">
            <a:avLst/>
          </a:prstGeom>
          <a:solidFill>
            <a:srgbClr val="FFFFFF"/>
          </a:solidFill>
          <a:ln>
            <a:solidFill>
              <a:srgbClr val="DAD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760720" y="5696712"/>
            <a:ext cx="26151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80" b="0">
                <a:solidFill>
                  <a:srgbClr val="1C252C"/>
                </a:solidFill>
                <a:latin typeface="Aptos"/>
              </a:rPr>
              <a:t>Reusable ingestion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595360" y="5568696"/>
            <a:ext cx="3063240" cy="603504"/>
          </a:xfrm>
          <a:prstGeom prst="rect">
            <a:avLst/>
          </a:prstGeom>
          <a:solidFill>
            <a:srgbClr val="FFFFFF"/>
          </a:solidFill>
          <a:ln>
            <a:solidFill>
              <a:srgbClr val="DAD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705088" y="5696712"/>
            <a:ext cx="28437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80" b="0">
                <a:solidFill>
                  <a:srgbClr val="1C252C"/>
                </a:solidFill>
                <a:latin typeface="Aptos"/>
              </a:rPr>
              <a:t>Teaching + production pattern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30352" y="6519672"/>
            <a:ext cx="6400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E6970"/>
                </a:solidFill>
                <a:latin typeface="Aptos"/>
              </a:rPr>
              <a:t>Microsoft Fabric | Manchester Data Pipelines Hack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A80"/>
          </a:solidFill>
          <a:ln>
            <a:solidFill>
              <a:srgbClr val="007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20040"/>
            <a:ext cx="4114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7A80"/>
                </a:solidFill>
                <a:latin typeface="Aptos"/>
              </a:rPr>
              <a:t>RUNTIME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0080"/>
            <a:ext cx="1078992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C252C"/>
                </a:solidFill>
                <a:latin typeface="Aptos Display"/>
              </a:rPr>
              <a:t>Solution 3 completed end to 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E6970"/>
                </a:solidFill>
                <a:latin typeface="Aptos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41732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C252C"/>
                </a:solidFill>
                <a:latin typeface="Aptos"/>
              </a:rPr>
              <a:t>Validated master run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810512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E6970"/>
                </a:solidFill>
                <a:latin typeface="Aptos"/>
              </a:rPr>
              <a:t>c87ee117-8bd0-4c77-9dd5-220669ece567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2331720"/>
            <a:ext cx="24231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D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2441448"/>
            <a:ext cx="209397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43915E"/>
                </a:solidFill>
                <a:latin typeface="Aptos"/>
              </a:rPr>
              <a:t>COMPLETED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834639"/>
            <a:ext cx="209397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5E6970"/>
                </a:solidFill>
                <a:latin typeface="Aptos"/>
              </a:rPr>
              <a:t>MASTER PIPELINE STATUS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82112" y="2331720"/>
            <a:ext cx="24231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D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46704" y="2441448"/>
            <a:ext cx="209397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007A80"/>
                </a:solidFill>
                <a:latin typeface="Aptos"/>
              </a:rPr>
              <a:t>7 / 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46704" y="2834639"/>
            <a:ext cx="209397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5E6970"/>
                </a:solidFill>
                <a:latin typeface="Aptos"/>
              </a:rPr>
              <a:t>PIPELINE STEPS COMPLETED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33872" y="2331720"/>
            <a:ext cx="24231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D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98464" y="2441448"/>
            <a:ext cx="209397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3269A8"/>
                </a:solidFill>
                <a:latin typeface="Aptos"/>
              </a:rPr>
              <a:t>7 /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98464" y="2834639"/>
            <a:ext cx="209397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5E6970"/>
                </a:solidFill>
                <a:latin typeface="Aptos"/>
              </a:rPr>
              <a:t>RECONCILIATIONS BALANCED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85632" y="2331720"/>
            <a:ext cx="24231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D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50224" y="2441448"/>
            <a:ext cx="209397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E85B46"/>
                </a:solidFill>
                <a:latin typeface="Aptos"/>
              </a:rPr>
              <a:t>169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50224" y="2834639"/>
            <a:ext cx="209397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5E6970"/>
                </a:solidFill>
                <a:latin typeface="Aptos"/>
              </a:rPr>
              <a:t>EXPECTED REJECTED ROWS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0352" y="3703320"/>
            <a:ext cx="6537960" cy="19933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D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3950208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C252C"/>
                </a:solidFill>
                <a:latin typeface="Aptos"/>
              </a:rPr>
              <a:t>Data quality findings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" y="4370832"/>
            <a:ext cx="56235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50">
                <a:solidFill>
                  <a:srgbClr val="1C252C"/>
                </a:solidFill>
                <a:latin typeface="Aptos"/>
              </a:defRPr>
            </a:pPr>
            <a:r>
              <a:t>- 166 reversed assistance timestamps</a:t>
            </a:r>
          </a:p>
          <a:p>
            <a:pPr>
              <a:spcAft>
                <a:spcPts val="800"/>
              </a:spcAft>
              <a:defRPr sz="1250">
                <a:solidFill>
                  <a:srgbClr val="1C252C"/>
                </a:solidFill>
                <a:latin typeface="Aptos"/>
              </a:defRPr>
            </a:pPr>
            <a:r>
              <a:t>- 1 fulfilled count above request count</a:t>
            </a:r>
          </a:p>
          <a:p>
            <a:pPr>
              <a:spcAft>
                <a:spcPts val="800"/>
              </a:spcAft>
              <a:defRPr sz="1250">
                <a:solidFill>
                  <a:srgbClr val="1C252C"/>
                </a:solidFill>
                <a:latin typeface="Aptos"/>
              </a:defRPr>
            </a:pPr>
            <a:r>
              <a:t>- 1 negative passenger count</a:t>
            </a:r>
          </a:p>
          <a:p>
            <a:pPr>
              <a:spcAft>
                <a:spcPts val="800"/>
              </a:spcAft>
              <a:defRPr sz="1250">
                <a:solidFill>
                  <a:srgbClr val="1C252C"/>
                </a:solidFill>
                <a:latin typeface="Aptos"/>
              </a:defRPr>
            </a:pPr>
            <a:r>
              <a:t>- 1 missing station reference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42631" y="3703320"/>
            <a:ext cx="4297680" cy="1993392"/>
          </a:xfrm>
          <a:prstGeom prst="roundRect">
            <a:avLst>
              <a:gd name="adj" fmla="val 8000"/>
            </a:avLst>
          </a:prstGeom>
          <a:solidFill>
            <a:srgbClr val="1C252C"/>
          </a:solidFill>
          <a:ln>
            <a:solidFill>
              <a:srgbClr val="1C25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35240" y="3950208"/>
            <a:ext cx="3566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4BE34"/>
                </a:solidFill>
                <a:latin typeface="Aptos"/>
              </a:rPr>
              <a:t>Design principle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35240" y="4425696"/>
            <a:ext cx="3429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A successful run is not enough.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35240" y="4892040"/>
            <a:ext cx="3337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CED7DB"/>
                </a:solidFill>
                <a:latin typeface="Aptos"/>
              </a:rPr>
              <a:t>Prove row balance, quality outcomes, and traceability for every entity.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" y="6519672"/>
            <a:ext cx="6400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E6970"/>
                </a:solidFill>
                <a:latin typeface="Aptos"/>
              </a:rPr>
              <a:t>Microsoft Fabric | Manchester Data Pipelines Hack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A80"/>
          </a:solidFill>
          <a:ln>
            <a:solidFill>
              <a:srgbClr val="007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20040"/>
            <a:ext cx="4114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7A80"/>
                </a:solidFill>
                <a:latin typeface="Aptos"/>
              </a:rPr>
              <a:t>DECISION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0080"/>
            <a:ext cx="1078992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C252C"/>
                </a:solidFill>
                <a:latin typeface="Aptos Display"/>
              </a:rPr>
              <a:t>Start simple, add controls when the risk demands them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E6970"/>
                </a:solidFill>
                <a:latin typeface="Aptos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1481328"/>
            <a:ext cx="11109960" cy="10607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D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0352" y="1481328"/>
            <a:ext cx="164592" cy="1060704"/>
          </a:xfrm>
          <a:prstGeom prst="rect">
            <a:avLst/>
          </a:prstGeom>
          <a:solidFill>
            <a:srgbClr val="F4BE34"/>
          </a:solidFill>
          <a:ln>
            <a:solidFill>
              <a:srgbClr val="F4BE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700784"/>
            <a:ext cx="4160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C252C"/>
                </a:solidFill>
                <a:latin typeface="Aptos"/>
              </a:rPr>
              <a:t>Need an answer today?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30368" y="1664208"/>
            <a:ext cx="2176272" cy="694944"/>
          </a:xfrm>
          <a:prstGeom prst="roundRect">
            <a:avLst>
              <a:gd name="adj" fmla="val 8000"/>
            </a:avLst>
          </a:prstGeom>
          <a:solidFill>
            <a:srgbClr val="FBF1CF"/>
          </a:solidFill>
          <a:ln>
            <a:solidFill>
              <a:srgbClr val="FBF1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94960" y="1847088"/>
            <a:ext cx="184708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4BE34"/>
                </a:solidFill>
                <a:latin typeface="Aptos"/>
              </a:rPr>
              <a:t>Use Simple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1828800"/>
            <a:ext cx="3429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E6970"/>
                </a:solidFill>
                <a:latin typeface="Aptos"/>
              </a:rPr>
              <a:t>Manual landing + notebook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" y="2871216"/>
            <a:ext cx="11109960" cy="10607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D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30352" y="2871216"/>
            <a:ext cx="164592" cy="1060704"/>
          </a:xfrm>
          <a:prstGeom prst="rect">
            <a:avLst/>
          </a:prstGeom>
          <a:solidFill>
            <a:srgbClr val="E85B46"/>
          </a:solidFill>
          <a:ln>
            <a:solidFill>
              <a:srgbClr val="E85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3090672"/>
            <a:ext cx="4160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C252C"/>
                </a:solidFill>
                <a:latin typeface="Aptos"/>
              </a:rPr>
              <a:t>Loading many files repeatedly?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30368" y="3054096"/>
            <a:ext cx="2176272" cy="694944"/>
          </a:xfrm>
          <a:prstGeom prst="roundRect">
            <a:avLst>
              <a:gd name="adj" fmla="val 8000"/>
            </a:avLst>
          </a:prstGeom>
          <a:solidFill>
            <a:srgbClr val="FAE4DF"/>
          </a:solidFill>
          <a:ln>
            <a:solidFill>
              <a:srgbClr val="FA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94960" y="3236976"/>
            <a:ext cx="184708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E85B46"/>
                </a:solidFill>
                <a:latin typeface="Aptos"/>
              </a:rPr>
              <a:t>Use Solution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3218688"/>
            <a:ext cx="3429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E6970"/>
                </a:solidFill>
                <a:latin typeface="Aptos"/>
              </a:rPr>
              <a:t>Control table + incremental merge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0352" y="4261104"/>
            <a:ext cx="11109960" cy="10607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D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30352" y="4261104"/>
            <a:ext cx="164592" cy="1060704"/>
          </a:xfrm>
          <a:prstGeom prst="rect">
            <a:avLst/>
          </a:prstGeom>
          <a:solidFill>
            <a:srgbClr val="007A80"/>
          </a:solidFill>
          <a:ln>
            <a:solidFill>
              <a:srgbClr val="007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4480560"/>
            <a:ext cx="4160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C252C"/>
                </a:solidFill>
                <a:latin typeface="Aptos"/>
              </a:rPr>
              <a:t>Need governance and operational proof?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230368" y="4443984"/>
            <a:ext cx="2176272" cy="694944"/>
          </a:xfrm>
          <a:prstGeom prst="roundRect">
            <a:avLst>
              <a:gd name="adj" fmla="val 8000"/>
            </a:avLst>
          </a:prstGeom>
          <a:solidFill>
            <a:srgbClr val="DDF0EF"/>
          </a:solidFill>
          <a:ln>
            <a:solidFill>
              <a:srgbClr val="DDF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94960" y="4626864"/>
            <a:ext cx="184708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07A80"/>
                </a:solidFill>
                <a:latin typeface="Aptos"/>
              </a:rPr>
              <a:t>Use Solution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4608576"/>
            <a:ext cx="3429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E6970"/>
                </a:solidFill>
                <a:latin typeface="Aptos"/>
              </a:rPr>
              <a:t>Medallion + audit + DQ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0352" y="5806440"/>
            <a:ext cx="11109960" cy="438912"/>
          </a:xfrm>
          <a:prstGeom prst="roundRect">
            <a:avLst>
              <a:gd name="adj" fmla="val 8000"/>
            </a:avLst>
          </a:prstGeom>
          <a:solidFill>
            <a:srgbClr val="1C252C"/>
          </a:solidFill>
          <a:ln>
            <a:solidFill>
              <a:srgbClr val="1C25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5916168"/>
            <a:ext cx="10561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ptos"/>
              </a:rPr>
              <a:t>The three approaches are complementary: use them to teach progression, not to declare one universal winner.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" y="6519672"/>
            <a:ext cx="6400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E6970"/>
                </a:solidFill>
                <a:latin typeface="Aptos"/>
              </a:rPr>
              <a:t>Microsoft Fabric | Manchester Data Pipelines Hack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Fabric Architecture: Three Solutions</dc:title>
  <dc:subject>Simple, metadata-driven, and multi-engine Fabric architectures</dc:subject>
  <dc:creator>Manchester Data Pipelines Hack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